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3" r:id="rId18"/>
    <p:sldId id="274" r:id="rId19"/>
    <p:sldId id="275" r:id="rId20"/>
    <p:sldId id="278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3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0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41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3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3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7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4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0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2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8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562F8-A804-400E-8405-970FA9B4DAE1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DF6EE-46C1-4CC3-8BB0-F7C11BCA8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7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Approach to Persian Text Sentiment Analysis through Density Distribution Modeling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1898469" cy="856751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</a:rPr>
              <a:t>Atefe Rajabi</a:t>
            </a:r>
          </a:p>
          <a:p>
            <a:pPr algn="l"/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</a:rPr>
              <a:t>Sepehr Radmard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66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Report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Word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Data Imbalance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lusterers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653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Sentiment Analysis</a:t>
            </a:r>
          </a:p>
          <a:p>
            <a:r>
              <a:rPr lang="en-US" dirty="0" smtClean="0"/>
              <a:t>Companies Assessment</a:t>
            </a:r>
          </a:p>
          <a:p>
            <a:r>
              <a:rPr lang="en-US" dirty="0" smtClean="0"/>
              <a:t>Leads to Improvement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986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Report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Unique words: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50106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Unique words after preprocessing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28088</a:t>
            </a:r>
          </a:p>
          <a:p>
            <a:pPr lvl="0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Samples: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62938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Negative: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17055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Neutral: 5720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Positive: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40163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20878"/>
            <a:ext cx="2071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20878"/>
            <a:ext cx="2071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66657" y="4001294"/>
            <a:ext cx="3953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Imbalanced</a:t>
            </a:r>
            <a:endParaRPr lang="en-US" sz="4800" b="1" dirty="0">
              <a:solidFill>
                <a:srgbClr val="FF0000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0" y="120878"/>
            <a:ext cx="2071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30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Clean Text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 Stop Words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540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Clean Text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Zero-Width Non-Joiner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URLs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English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Alphabets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Repeated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Specific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Special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Extra Spaces</a:t>
            </a:r>
          </a:p>
        </p:txBody>
      </p:sp>
    </p:spTree>
    <p:extLst>
      <p:ext uri="{BB962C8B-B14F-4D97-AF65-F5344CB8AC3E}">
        <p14:creationId xmlns:p14="http://schemas.microsoft.com/office/powerpoint/2010/main" val="773237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Hazm's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Diacritics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-Arabic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Normalizing Half-Space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Non-Standard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of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of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Punctuation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Normalizing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Hamzeh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Kashida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30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Hazm's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word_tokenize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the text into words or tokens</a:t>
            </a:r>
          </a:p>
        </p:txBody>
      </p:sp>
    </p:spTree>
    <p:extLst>
      <p:ext uri="{BB962C8B-B14F-4D97-AF65-F5344CB8AC3E}">
        <p14:creationId xmlns:p14="http://schemas.microsoft.com/office/powerpoint/2010/main" val="89330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Stop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“stop_words.txt” is generated:</a:t>
            </a: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inverse document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(IDF)</a:t>
            </a: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Stop words: IDF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below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min_idf_threshold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above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max_idf_threshold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min_idf_threshold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max_idf_threshold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11</a:t>
            </a: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detected Stop words: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22560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stop words from 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stop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20878"/>
            <a:ext cx="2071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718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astText</a:t>
            </a:r>
            <a:endParaRPr lang="fa-I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endParaRPr lang="fa-I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method implemented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</a:p>
          <a:p>
            <a:pPr lvl="1"/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Dictionary and word embedding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TF-IDF scores</a:t>
            </a:r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</a:p>
          <a:p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</a:p>
          <a:p>
            <a:pPr lvl="1"/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sample, Consider tokens and each Word Embeded vector</a:t>
            </a: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Average of these vectors, representing sentence</a:t>
            </a:r>
          </a:p>
        </p:txBody>
      </p:sp>
    </p:spTree>
    <p:extLst>
      <p:ext uri="{BB962C8B-B14F-4D97-AF65-F5344CB8AC3E}">
        <p14:creationId xmlns:p14="http://schemas.microsoft.com/office/powerpoint/2010/main" val="331680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 Vectors Aggregating (Mean)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094" y="1855888"/>
            <a:ext cx="4205811" cy="433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04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Z-score: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for Each Class threshold is : 3 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IQR: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Counts for Each Class alpha is 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307" y="2479493"/>
            <a:ext cx="1948796" cy="10474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307" y="4376465"/>
            <a:ext cx="2045698" cy="102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17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Imbalanced Data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imbalanced-learn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Resampling Techniques:</a:t>
            </a:r>
          </a:p>
          <a:p>
            <a:pPr lvl="1"/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RandomUnderSampler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RandomOverSampler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</a:p>
        </p:txBody>
      </p:sp>
    </p:spTree>
    <p:extLst>
      <p:ext uri="{BB962C8B-B14F-4D97-AF65-F5344CB8AC3E}">
        <p14:creationId xmlns:p14="http://schemas.microsoft.com/office/powerpoint/2010/main" val="130049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OVA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OVO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470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63198"/>
          </a:xfrm>
        </p:spPr>
        <p:txBody>
          <a:bodyPr numCol="2">
            <a:noAutofit/>
          </a:bodyPr>
          <a:lstStyle/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0.74</a:t>
            </a:r>
          </a:p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Accuracy: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0.74</a:t>
            </a:r>
          </a:p>
          <a:p>
            <a:pPr lvl="0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AUC-ROC per class:</a:t>
            </a:r>
          </a:p>
          <a:p>
            <a:pPr lvl="1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-1: 0.91</a:t>
            </a:r>
          </a:p>
          <a:p>
            <a:pPr lvl="1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0: 0.85</a:t>
            </a:r>
          </a:p>
          <a:p>
            <a:pPr lvl="1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1: 0.91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10378" r="4193"/>
          <a:stretch/>
        </p:blipFill>
        <p:spPr>
          <a:xfrm>
            <a:off x="838200" y="4358686"/>
            <a:ext cx="4480697" cy="18182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880" y="3419038"/>
            <a:ext cx="3524794" cy="2790249"/>
          </a:xfrm>
          <a:prstGeom prst="rect">
            <a:avLst/>
          </a:prstGeom>
        </p:spPr>
      </p:pic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171501"/>
              </p:ext>
            </p:extLst>
          </p:nvPr>
        </p:nvGraphicFramePr>
        <p:xfrm>
          <a:off x="8763727" y="1825625"/>
          <a:ext cx="218294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7649">
                  <a:extLst>
                    <a:ext uri="{9D8B030D-6E8A-4147-A177-3AD203B41FA5}">
                      <a16:colId xmlns:a16="http://schemas.microsoft.com/office/drawing/2014/main" val="3133573289"/>
                    </a:ext>
                  </a:extLst>
                </a:gridCol>
                <a:gridCol w="727649">
                  <a:extLst>
                    <a:ext uri="{9D8B030D-6E8A-4147-A177-3AD203B41FA5}">
                      <a16:colId xmlns:a16="http://schemas.microsoft.com/office/drawing/2014/main" val="3315222739"/>
                    </a:ext>
                  </a:extLst>
                </a:gridCol>
                <a:gridCol w="727649">
                  <a:extLst>
                    <a:ext uri="{9D8B030D-6E8A-4147-A177-3AD203B41FA5}">
                      <a16:colId xmlns:a16="http://schemas.microsoft.com/office/drawing/2014/main" val="4120905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260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03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253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13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255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986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998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1084"/>
          </a:xfrm>
        </p:spPr>
        <p:txBody>
          <a:bodyPr numCol="2">
            <a:noAutofit/>
          </a:bodyPr>
          <a:lstStyle/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0.68</a:t>
            </a:r>
          </a:p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Accuracy: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0.67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56709"/>
            <a:ext cx="4480697" cy="17176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616265"/>
              </p:ext>
            </p:extLst>
          </p:nvPr>
        </p:nvGraphicFramePr>
        <p:xfrm>
          <a:off x="8763727" y="1825625"/>
          <a:ext cx="218294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7649">
                  <a:extLst>
                    <a:ext uri="{9D8B030D-6E8A-4147-A177-3AD203B41FA5}">
                      <a16:colId xmlns:a16="http://schemas.microsoft.com/office/drawing/2014/main" val="3133573289"/>
                    </a:ext>
                  </a:extLst>
                </a:gridCol>
                <a:gridCol w="727649">
                  <a:extLst>
                    <a:ext uri="{9D8B030D-6E8A-4147-A177-3AD203B41FA5}">
                      <a16:colId xmlns:a16="http://schemas.microsoft.com/office/drawing/2014/main" val="3315222739"/>
                    </a:ext>
                  </a:extLst>
                </a:gridCol>
                <a:gridCol w="727649">
                  <a:extLst>
                    <a:ext uri="{9D8B030D-6E8A-4147-A177-3AD203B41FA5}">
                      <a16:colId xmlns:a16="http://schemas.microsoft.com/office/drawing/2014/main" val="4120905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289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03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188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13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228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986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101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1084"/>
          </a:xfrm>
        </p:spPr>
        <p:txBody>
          <a:bodyPr numCol="2">
            <a:noAutofit/>
          </a:bodyPr>
          <a:lstStyle/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0.72</a:t>
            </a:r>
          </a:p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Accuracy: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0.72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83524"/>
              </p:ext>
            </p:extLst>
          </p:nvPr>
        </p:nvGraphicFramePr>
        <p:xfrm>
          <a:off x="8763727" y="1825625"/>
          <a:ext cx="218294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7649">
                  <a:extLst>
                    <a:ext uri="{9D8B030D-6E8A-4147-A177-3AD203B41FA5}">
                      <a16:colId xmlns:a16="http://schemas.microsoft.com/office/drawing/2014/main" val="3133573289"/>
                    </a:ext>
                  </a:extLst>
                </a:gridCol>
                <a:gridCol w="727649">
                  <a:extLst>
                    <a:ext uri="{9D8B030D-6E8A-4147-A177-3AD203B41FA5}">
                      <a16:colId xmlns:a16="http://schemas.microsoft.com/office/drawing/2014/main" val="3315222739"/>
                    </a:ext>
                  </a:extLst>
                </a:gridCol>
                <a:gridCol w="727649">
                  <a:extLst>
                    <a:ext uri="{9D8B030D-6E8A-4147-A177-3AD203B41FA5}">
                      <a16:colId xmlns:a16="http://schemas.microsoft.com/office/drawing/2014/main" val="4120905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265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03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222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13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242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986161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585"/>
          <a:stretch/>
        </p:blipFill>
        <p:spPr>
          <a:xfrm>
            <a:off x="1191169" y="3056709"/>
            <a:ext cx="4443276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45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379" y="1921030"/>
            <a:ext cx="5285242" cy="4160528"/>
          </a:xfrm>
        </p:spPr>
      </p:pic>
    </p:spTree>
    <p:extLst>
      <p:ext uri="{BB962C8B-B14F-4D97-AF65-F5344CB8AC3E}">
        <p14:creationId xmlns:p14="http://schemas.microsoft.com/office/powerpoint/2010/main" val="900394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53004"/>
          </a:xfrm>
        </p:spPr>
        <p:txBody>
          <a:bodyPr numCol="2">
            <a:normAutofit/>
          </a:bodyPr>
          <a:lstStyle/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0.76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Accuracy: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0.74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447383"/>
              </p:ext>
            </p:extLst>
          </p:nvPr>
        </p:nvGraphicFramePr>
        <p:xfrm>
          <a:off x="8763727" y="1825625"/>
          <a:ext cx="218294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7649">
                  <a:extLst>
                    <a:ext uri="{9D8B030D-6E8A-4147-A177-3AD203B41FA5}">
                      <a16:colId xmlns:a16="http://schemas.microsoft.com/office/drawing/2014/main" val="3133573289"/>
                    </a:ext>
                  </a:extLst>
                </a:gridCol>
                <a:gridCol w="727649">
                  <a:extLst>
                    <a:ext uri="{9D8B030D-6E8A-4147-A177-3AD203B41FA5}">
                      <a16:colId xmlns:a16="http://schemas.microsoft.com/office/drawing/2014/main" val="3315222739"/>
                    </a:ext>
                  </a:extLst>
                </a:gridCol>
                <a:gridCol w="727649">
                  <a:extLst>
                    <a:ext uri="{9D8B030D-6E8A-4147-A177-3AD203B41FA5}">
                      <a16:colId xmlns:a16="http://schemas.microsoft.com/office/drawing/2014/main" val="4120905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275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03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306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13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282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98616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945" y="2938145"/>
            <a:ext cx="50387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6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KDE classifier has the highest test </a:t>
            </a:r>
            <a:r>
              <a:rPr lang="en-US" dirty="0" smtClean="0"/>
              <a:t>accuracy</a:t>
            </a:r>
          </a:p>
          <a:p>
            <a:r>
              <a:rPr lang="en-US" dirty="0"/>
              <a:t>The KDE classifier </a:t>
            </a:r>
            <a:r>
              <a:rPr lang="en-US" dirty="0" smtClean="0"/>
              <a:t>shows </a:t>
            </a:r>
            <a:r>
              <a:rPr lang="en-US" dirty="0"/>
              <a:t>the highest macro averaged </a:t>
            </a:r>
            <a:r>
              <a:rPr lang="en-US" dirty="0" smtClean="0"/>
              <a:t>F1-score</a:t>
            </a:r>
            <a:endParaRPr lang="en-US" dirty="0"/>
          </a:p>
          <a:p>
            <a:r>
              <a:rPr lang="en-US" dirty="0"/>
              <a:t>P</a:t>
            </a:r>
            <a:r>
              <a:rPr lang="en-US" dirty="0" smtClean="0"/>
              <a:t>articularly </a:t>
            </a:r>
            <a:r>
              <a:rPr lang="en-US" dirty="0"/>
              <a:t>strong results for class </a:t>
            </a:r>
            <a:r>
              <a:rPr lang="en-US" dirty="0" smtClean="0"/>
              <a:t>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417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849" y="1942012"/>
            <a:ext cx="7662301" cy="3578732"/>
          </a:xfrm>
        </p:spPr>
      </p:pic>
    </p:spTree>
    <p:extLst>
      <p:ext uri="{BB962C8B-B14F-4D97-AF65-F5344CB8AC3E}">
        <p14:creationId xmlns:p14="http://schemas.microsoft.com/office/powerpoint/2010/main" val="92433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466</Words>
  <Application>Microsoft Office PowerPoint</Application>
  <PresentationFormat>Widescreen</PresentationFormat>
  <Paragraphs>169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Stencil</vt:lpstr>
      <vt:lpstr>Times New Roman</vt:lpstr>
      <vt:lpstr>Office Theme</vt:lpstr>
      <vt:lpstr>A Novel Approach to Persian Text Sentiment Analysis through Density Distribution Modeling </vt:lpstr>
      <vt:lpstr>Content</vt:lpstr>
      <vt:lpstr>Problem Definition:</vt:lpstr>
      <vt:lpstr>Dataset Report</vt:lpstr>
      <vt:lpstr>Preprocessing</vt:lpstr>
      <vt:lpstr>Clean Text:</vt:lpstr>
      <vt:lpstr>Normalization:</vt:lpstr>
      <vt:lpstr>Tokenization:</vt:lpstr>
      <vt:lpstr>Remove Stop Words:</vt:lpstr>
      <vt:lpstr>Word Embedding:</vt:lpstr>
      <vt:lpstr>Word Vectors Aggregating (Mean):</vt:lpstr>
      <vt:lpstr>Outlier Detection:</vt:lpstr>
      <vt:lpstr>Handling Imbalanced Data:</vt:lpstr>
      <vt:lpstr>Classifiers:</vt:lpstr>
      <vt:lpstr>Softmax:</vt:lpstr>
      <vt:lpstr>OVA:</vt:lpstr>
      <vt:lpstr>OVO:</vt:lpstr>
      <vt:lpstr>Dimensionality Reduction:</vt:lpstr>
      <vt:lpstr>KDE:</vt:lpstr>
      <vt:lpstr>Comparison:</vt:lpstr>
      <vt:lpstr>Test: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Novel Approach to Persian Text Sentiment Analysis through Density Distribution Modeling</dc:title>
  <dc:creator>pars iran</dc:creator>
  <cp:lastModifiedBy>pars iran</cp:lastModifiedBy>
  <cp:revision>33</cp:revision>
  <dcterms:created xsi:type="dcterms:W3CDTF">2024-02-13T13:40:39Z</dcterms:created>
  <dcterms:modified xsi:type="dcterms:W3CDTF">2024-02-24T13:18:44Z</dcterms:modified>
</cp:coreProperties>
</file>